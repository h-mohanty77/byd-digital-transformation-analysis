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nter Bold" panose="020B0802030000000004" pitchFamily="34" charset="0"/>
      <p:regular r:id="rId10"/>
      <p:bold r:id="rId11"/>
    </p:embeddedFont>
    <p:embeddedFont>
      <p:font typeface="Inter Medium" panose="02000503000000020004" pitchFamily="2" charset="0"/>
      <p:regular r:id="rId12"/>
    </p:embeddedFont>
    <p:embeddedFont>
      <p:font typeface="Inter Semi-Bold" panose="02000503000000020004" pitchFamily="2" charset="0"/>
      <p:regular r:id="rId13"/>
      <p:bold r:id="rId14"/>
    </p:embeddedFont>
    <p:embeddedFont>
      <p:font typeface="Inter Ultra-Bold" panose="02000503000000020004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 autoAdjust="0"/>
    <p:restoredTop sz="94606" autoAdjust="0"/>
  </p:normalViewPr>
  <p:slideViewPr>
    <p:cSldViewPr>
      <p:cViewPr varScale="1">
        <p:scale>
          <a:sx n="79" d="100"/>
          <a:sy n="79" d="100"/>
        </p:scale>
        <p:origin x="1080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875A3-3998-6D4A-8FF8-4D8F35855E76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B1DDD-4A91-AE47-AAC0-81ED27021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1DDD-4A91-AE47-AAC0-81ED270217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himanshu-mohanty-07367b41b/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himanshulkmbubu05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2991/978-2-38476-585-0_45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1528440" y="5356674"/>
            <a:ext cx="6759560" cy="4722618"/>
          </a:xfrm>
          <a:custGeom>
            <a:avLst/>
            <a:gdLst/>
            <a:ahLst/>
            <a:cxnLst/>
            <a:rect l="l" t="t" r="r" b="b"/>
            <a:pathLst>
              <a:path w="6759560" h="4722618">
                <a:moveTo>
                  <a:pt x="0" y="0"/>
                </a:moveTo>
                <a:lnTo>
                  <a:pt x="6759560" y="0"/>
                </a:lnTo>
                <a:lnTo>
                  <a:pt x="6759560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73701" y="1653063"/>
            <a:ext cx="10954739" cy="3328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97"/>
              </a:lnSpc>
            </a:pPr>
            <a:r>
              <a:rPr lang="en-US" sz="8969" b="1" dirty="0">
                <a:solidFill>
                  <a:srgbClr val="050505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HOW DATA HELPED BYD WORK SMARTER</a:t>
            </a:r>
          </a:p>
        </p:txBody>
      </p:sp>
      <p:sp>
        <p:nvSpPr>
          <p:cNvPr id="5" name="Freeform 5"/>
          <p:cNvSpPr/>
          <p:nvPr/>
        </p:nvSpPr>
        <p:spPr>
          <a:xfrm>
            <a:off x="625858" y="4981628"/>
            <a:ext cx="5020450" cy="437279"/>
          </a:xfrm>
          <a:custGeom>
            <a:avLst/>
            <a:gdLst/>
            <a:ahLst/>
            <a:cxnLst/>
            <a:rect l="l" t="t" r="r" b="b"/>
            <a:pathLst>
              <a:path w="5020450" h="437279">
                <a:moveTo>
                  <a:pt x="0" y="0"/>
                </a:moveTo>
                <a:lnTo>
                  <a:pt x="5020450" y="0"/>
                </a:lnTo>
                <a:lnTo>
                  <a:pt x="5020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25858" y="5520926"/>
            <a:ext cx="7065781" cy="42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1" dirty="0">
                <a:solidFill>
                  <a:srgbClr val="050505"/>
                </a:solidFill>
                <a:latin typeface="Inter Medium"/>
                <a:ea typeface="Inter Medium"/>
                <a:cs typeface="Inter Medium"/>
                <a:sym typeface="Inter Medium"/>
              </a:rPr>
              <a:t>Data-led decisions. Measurable impact.</a:t>
            </a:r>
          </a:p>
        </p:txBody>
      </p:sp>
      <p:sp>
        <p:nvSpPr>
          <p:cNvPr id="7" name="Freeform 7"/>
          <p:cNvSpPr/>
          <p:nvPr/>
        </p:nvSpPr>
        <p:spPr>
          <a:xfrm>
            <a:off x="625858" y="7579748"/>
            <a:ext cx="229694" cy="2470969"/>
          </a:xfrm>
          <a:custGeom>
            <a:avLst/>
            <a:gdLst/>
            <a:ahLst/>
            <a:cxnLst/>
            <a:rect l="l" t="t" r="r" b="b"/>
            <a:pathLst>
              <a:path w="229694" h="2470969">
                <a:moveTo>
                  <a:pt x="0" y="0"/>
                </a:moveTo>
                <a:lnTo>
                  <a:pt x="229694" y="0"/>
                </a:lnTo>
                <a:lnTo>
                  <a:pt x="229694" y="2470969"/>
                </a:lnTo>
                <a:lnTo>
                  <a:pt x="0" y="247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157" r="-641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100440" y="426348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25014" y="7999148"/>
            <a:ext cx="402213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dirty="0">
                <a:solidFill>
                  <a:srgbClr val="050505"/>
                </a:solidFill>
                <a:latin typeface="Inter Medium"/>
                <a:ea typeface="Inter Medium"/>
                <a:cs typeface="Inter Medium"/>
                <a:sym typeface="Inter Medium"/>
              </a:rPr>
              <a:t>Himanshu Mohanty</a:t>
            </a:r>
          </a:p>
          <a:p>
            <a:pPr algn="l">
              <a:lnSpc>
                <a:spcPts val="3312"/>
              </a:lnSpc>
            </a:pPr>
            <a:r>
              <a:rPr lang="en-US" sz="2759" b="1" dirty="0">
                <a:solidFill>
                  <a:srgbClr val="050505"/>
                </a:solidFill>
                <a:latin typeface="Inter Medium"/>
                <a:ea typeface="Inter Medium"/>
                <a:cs typeface="Inter Medium"/>
                <a:sym typeface="Inter Medium"/>
                <a:hlinkClick r:id="rId7"/>
              </a:rPr>
              <a:t>E-mail Address</a:t>
            </a:r>
            <a:endParaRPr lang="en-US" sz="2759" b="1" dirty="0">
              <a:solidFill>
                <a:srgbClr val="050505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l">
              <a:lnSpc>
                <a:spcPts val="3312"/>
              </a:lnSpc>
            </a:pPr>
            <a:r>
              <a:rPr lang="en-US" sz="2759" b="1" dirty="0">
                <a:solidFill>
                  <a:srgbClr val="050505"/>
                </a:solidFill>
                <a:latin typeface="Inter Medium"/>
                <a:ea typeface="Inter Medium"/>
                <a:cs typeface="Inter Medium"/>
                <a:sym typeface="Inter Medium"/>
                <a:hlinkClick r:id="rId8"/>
              </a:rPr>
              <a:t>Linkedin</a:t>
            </a:r>
            <a:endParaRPr lang="en-US" sz="2759" b="1" dirty="0">
              <a:solidFill>
                <a:srgbClr val="05050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68976" y="0"/>
            <a:ext cx="10019024" cy="10287000"/>
          </a:xfrm>
          <a:custGeom>
            <a:avLst/>
            <a:gdLst/>
            <a:ahLst/>
            <a:cxnLst/>
            <a:rect l="l" t="t" r="r" b="b"/>
            <a:pathLst>
              <a:path w="10019024" h="10287000">
                <a:moveTo>
                  <a:pt x="0" y="0"/>
                </a:moveTo>
                <a:lnTo>
                  <a:pt x="10019024" y="0"/>
                </a:lnTo>
                <a:lnTo>
                  <a:pt x="10019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68976" y="0"/>
            <a:ext cx="4145426" cy="10287000"/>
          </a:xfrm>
          <a:custGeom>
            <a:avLst/>
            <a:gdLst/>
            <a:ahLst/>
            <a:cxnLst/>
            <a:rect l="l" t="t" r="r" b="b"/>
            <a:pathLst>
              <a:path w="4145426" h="10287000">
                <a:moveTo>
                  <a:pt x="0" y="0"/>
                </a:moveTo>
                <a:lnTo>
                  <a:pt x="4145426" y="0"/>
                </a:lnTo>
                <a:lnTo>
                  <a:pt x="4145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09603" y="1114174"/>
            <a:ext cx="6012373" cy="103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7961" b="1" spc="-77" dirty="0">
                <a:solidFill>
                  <a:srgbClr val="090909"/>
                </a:solidFill>
                <a:latin typeface="Inter Bold"/>
                <a:ea typeface="Inter Bold"/>
                <a:cs typeface="Inter Bold"/>
                <a:sym typeface="Inter Bold"/>
              </a:rPr>
              <a:t>ABOUT BYD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331" y="2355103"/>
            <a:ext cx="9313669" cy="1534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 spc="-28" dirty="0">
                <a:solidFill>
                  <a:srgbClr val="090909"/>
                </a:solidFill>
                <a:latin typeface="Inter Medium"/>
                <a:ea typeface="Inter Medium"/>
                <a:cs typeface="Inter Medium"/>
                <a:sym typeface="Inter Medium"/>
              </a:rPr>
              <a:t>Founded in 1994, BYD is a global technology company operating across automobile, electronics, new energy and rail transit.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705" y="4503583"/>
            <a:ext cx="2066338" cy="82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6193" b="1" spc="-60">
                <a:solidFill>
                  <a:srgbClr val="DD262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1994</a:t>
            </a:r>
          </a:p>
        </p:txBody>
      </p:sp>
      <p:sp>
        <p:nvSpPr>
          <p:cNvPr id="8" name="Freeform 8"/>
          <p:cNvSpPr/>
          <p:nvPr/>
        </p:nvSpPr>
        <p:spPr>
          <a:xfrm>
            <a:off x="4353244" y="4574888"/>
            <a:ext cx="218756" cy="1300906"/>
          </a:xfrm>
          <a:custGeom>
            <a:avLst/>
            <a:gdLst/>
            <a:ahLst/>
            <a:cxnLst/>
            <a:rect l="l" t="t" r="r" b="b"/>
            <a:pathLst>
              <a:path w="218756" h="1300906">
                <a:moveTo>
                  <a:pt x="0" y="0"/>
                </a:moveTo>
                <a:lnTo>
                  <a:pt x="218756" y="0"/>
                </a:lnTo>
                <a:lnTo>
                  <a:pt x="21875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004452" y="4511644"/>
            <a:ext cx="510308" cy="83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6308" b="1" spc="-61">
                <a:solidFill>
                  <a:srgbClr val="DD262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09555" y="5333207"/>
            <a:ext cx="2973586" cy="40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588" b="1" spc="-25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Core industries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5864863"/>
            <a:ext cx="7634584" cy="229572"/>
          </a:xfrm>
          <a:custGeom>
            <a:avLst/>
            <a:gdLst/>
            <a:ahLst/>
            <a:cxnLst/>
            <a:rect l="l" t="t" r="r" b="b"/>
            <a:pathLst>
              <a:path w="7634584" h="229572">
                <a:moveTo>
                  <a:pt x="0" y="0"/>
                </a:moveTo>
                <a:lnTo>
                  <a:pt x="7634584" y="0"/>
                </a:lnTo>
                <a:lnTo>
                  <a:pt x="7634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7731" y="6349067"/>
            <a:ext cx="2841427" cy="83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6308" b="1" spc="-61">
                <a:solidFill>
                  <a:srgbClr val="DD262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2.21M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9727" y="7200751"/>
            <a:ext cx="3750469" cy="82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588" b="1" spc="-25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Vehicles sold by Sep 2024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53244" y="6291210"/>
            <a:ext cx="218756" cy="1082267"/>
          </a:xfrm>
          <a:custGeom>
            <a:avLst/>
            <a:gdLst/>
            <a:ahLst/>
            <a:cxnLst/>
            <a:rect l="l" t="t" r="r" b="b"/>
            <a:pathLst>
              <a:path w="218756" h="1082267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989816" y="6318945"/>
            <a:ext cx="1973903" cy="83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6308" b="1" spc="-61">
                <a:solidFill>
                  <a:srgbClr val="DD262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4.2%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09555" y="7187922"/>
            <a:ext cx="2973586" cy="82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588" b="1" spc="-25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Global automotive market share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3361" y="8528531"/>
            <a:ext cx="2999952" cy="42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651" b="1" spc="-25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Core technologies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5330" y="8997026"/>
            <a:ext cx="3303966" cy="218640"/>
          </a:xfrm>
          <a:custGeom>
            <a:avLst/>
            <a:gdLst/>
            <a:ahLst/>
            <a:cxnLst/>
            <a:rect l="l" t="t" r="r" b="b"/>
            <a:pathLst>
              <a:path w="3303966" h="218640">
                <a:moveTo>
                  <a:pt x="0" y="0"/>
                </a:moveTo>
                <a:lnTo>
                  <a:pt x="3303966" y="0"/>
                </a:lnTo>
                <a:lnTo>
                  <a:pt x="330396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090" b="-80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69727" y="9232071"/>
            <a:ext cx="2084207" cy="3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488" b="1" spc="-24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Blade battery</a:t>
            </a:r>
          </a:p>
        </p:txBody>
      </p:sp>
      <p:sp>
        <p:nvSpPr>
          <p:cNvPr id="20" name="Freeform 20"/>
          <p:cNvSpPr/>
          <p:nvPr/>
        </p:nvSpPr>
        <p:spPr>
          <a:xfrm>
            <a:off x="2716973" y="9204733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3" y="0"/>
                </a:lnTo>
                <a:lnTo>
                  <a:pt x="229693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060966" y="9232071"/>
            <a:ext cx="2224646" cy="3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488" b="1" spc="-24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E-platform 3.0</a:t>
            </a:r>
          </a:p>
        </p:txBody>
      </p:sp>
      <p:sp>
        <p:nvSpPr>
          <p:cNvPr id="22" name="Freeform 22"/>
          <p:cNvSpPr/>
          <p:nvPr/>
        </p:nvSpPr>
        <p:spPr>
          <a:xfrm>
            <a:off x="5399912" y="9204733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743359" y="9232071"/>
            <a:ext cx="2973586" cy="39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488" b="1" spc="-24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Intelligent driving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100440" y="207708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69727" y="5333207"/>
            <a:ext cx="2973586" cy="40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588" b="1" spc="-25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Year founded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00440" y="207708"/>
            <a:ext cx="1760986" cy="1300906"/>
          </a:xfrm>
          <a:custGeom>
            <a:avLst/>
            <a:gdLst/>
            <a:ahLst/>
            <a:cxnLst/>
            <a:rect l="l" t="t" r="r" b="b"/>
            <a:pathLst>
              <a:path w="1760986" h="1300906">
                <a:moveTo>
                  <a:pt x="0" y="0"/>
                </a:moveTo>
                <a:lnTo>
                  <a:pt x="1760986" y="0"/>
                </a:lnTo>
                <a:lnTo>
                  <a:pt x="176098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45330" y="3394558"/>
            <a:ext cx="667206" cy="6231233"/>
          </a:xfrm>
          <a:custGeom>
            <a:avLst/>
            <a:gdLst/>
            <a:ahLst/>
            <a:cxnLst/>
            <a:rect l="l" t="t" r="r" b="b"/>
            <a:pathLst>
              <a:path w="667206" h="6231233">
                <a:moveTo>
                  <a:pt x="0" y="0"/>
                </a:moveTo>
                <a:lnTo>
                  <a:pt x="667206" y="0"/>
                </a:lnTo>
                <a:lnTo>
                  <a:pt x="667206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340880" y="3394558"/>
            <a:ext cx="4156364" cy="3858991"/>
          </a:xfrm>
          <a:custGeom>
            <a:avLst/>
            <a:gdLst/>
            <a:ahLst/>
            <a:cxnLst/>
            <a:rect l="l" t="t" r="r" b="b"/>
            <a:pathLst>
              <a:path w="4156364" h="3858991">
                <a:moveTo>
                  <a:pt x="0" y="0"/>
                </a:moveTo>
                <a:lnTo>
                  <a:pt x="4156364" y="0"/>
                </a:lnTo>
                <a:lnTo>
                  <a:pt x="4156364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340880" y="3394558"/>
            <a:ext cx="4156364" cy="218640"/>
          </a:xfrm>
          <a:custGeom>
            <a:avLst/>
            <a:gdLst/>
            <a:ahLst/>
            <a:cxnLst/>
            <a:rect l="l" t="t" r="r" b="b"/>
            <a:pathLst>
              <a:path w="4156364" h="218640">
                <a:moveTo>
                  <a:pt x="0" y="0"/>
                </a:moveTo>
                <a:lnTo>
                  <a:pt x="4156364" y="0"/>
                </a:lnTo>
                <a:lnTo>
                  <a:pt x="415636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49879" y="5744935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497244" y="3494310"/>
            <a:ext cx="4145426" cy="3759240"/>
          </a:xfrm>
          <a:custGeom>
            <a:avLst/>
            <a:gdLst/>
            <a:ahLst/>
            <a:cxnLst/>
            <a:rect l="l" t="t" r="r" b="b"/>
            <a:pathLst>
              <a:path w="4145426" h="3858991">
                <a:moveTo>
                  <a:pt x="0" y="0"/>
                </a:moveTo>
                <a:lnTo>
                  <a:pt x="4145426" y="0"/>
                </a:lnTo>
                <a:lnTo>
                  <a:pt x="4145426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497244" y="3400860"/>
            <a:ext cx="4145426" cy="218640"/>
          </a:xfrm>
          <a:custGeom>
            <a:avLst/>
            <a:gdLst/>
            <a:ahLst/>
            <a:cxnLst/>
            <a:rect l="l" t="t" r="r" b="b"/>
            <a:pathLst>
              <a:path w="4145426" h="218640">
                <a:moveTo>
                  <a:pt x="0" y="0"/>
                </a:moveTo>
                <a:lnTo>
                  <a:pt x="4145426" y="0"/>
                </a:lnTo>
                <a:lnTo>
                  <a:pt x="414542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923818" y="5753100"/>
            <a:ext cx="3281340" cy="229572"/>
          </a:xfrm>
          <a:custGeom>
            <a:avLst/>
            <a:gdLst/>
            <a:ahLst/>
            <a:cxnLst/>
            <a:rect l="l" t="t" r="r" b="b"/>
            <a:pathLst>
              <a:path w="3281340" h="229572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28131" y="7653599"/>
            <a:ext cx="9738226" cy="2678821"/>
          </a:xfrm>
          <a:custGeom>
            <a:avLst/>
            <a:gdLst/>
            <a:ahLst/>
            <a:cxnLst/>
            <a:rect l="l" t="t" r="r" b="b"/>
            <a:pathLst>
              <a:path w="9738226" h="2678821">
                <a:moveTo>
                  <a:pt x="0" y="0"/>
                </a:moveTo>
                <a:lnTo>
                  <a:pt x="9738226" y="0"/>
                </a:lnTo>
                <a:lnTo>
                  <a:pt x="9738226" y="2678821"/>
                </a:lnTo>
                <a:lnTo>
                  <a:pt x="0" y="26788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84" r="-7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4390" y="736155"/>
            <a:ext cx="13249243" cy="213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sz="7809" b="1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GROWING FAST</a:t>
            </a:r>
          </a:p>
          <a:p>
            <a:pPr algn="l">
              <a:lnSpc>
                <a:spcPts val="8434"/>
              </a:lnSpc>
            </a:pPr>
            <a:r>
              <a:rPr lang="en-US" sz="7809" b="1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CREATED BIG HEADACHES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1317" y="3641772"/>
            <a:ext cx="790381" cy="40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983" b="1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R&amp;D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9904" y="4142117"/>
            <a:ext cx="7570977" cy="843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1" spc="-51" dirty="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slow physical crash testing and long development cycles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7639" y="5414708"/>
            <a:ext cx="1722824" cy="369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724" b="1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FACTORY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9904" y="6022132"/>
            <a:ext cx="7258292" cy="405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587" spc="-51" dirty="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45 days to deliver hit models like Song PLUS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2823" y="6863930"/>
            <a:ext cx="2204396" cy="38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847" b="1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MARKETING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1317" y="7482149"/>
            <a:ext cx="6819246" cy="40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587" spc="-51" dirty="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one-size-fits-all outreach to 20 million users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69904" y="8307484"/>
            <a:ext cx="2496333" cy="39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86" b="1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AFTER-SALES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1317" y="8928540"/>
            <a:ext cx="5716283" cy="384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49" dirty="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faults fixed only after they happen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13653" y="3911280"/>
            <a:ext cx="1610818" cy="1412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30"/>
              </a:lnSpc>
            </a:pPr>
            <a:r>
              <a:rPr lang="en-US" sz="10027" b="1" spc="-298" dirty="0">
                <a:solidFill>
                  <a:srgbClr val="E82A2A"/>
                </a:solidFill>
                <a:latin typeface="Inter Bold"/>
                <a:ea typeface="Inter Bold"/>
                <a:cs typeface="Inter Bold"/>
                <a:sym typeface="Inter Bold"/>
              </a:rPr>
              <a:t>45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76108" y="5277512"/>
            <a:ext cx="1085908" cy="428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sz="3067" b="1" spc="-61">
                <a:solidFill>
                  <a:srgbClr val="E82A2A"/>
                </a:solidFill>
                <a:latin typeface="Inter Bold"/>
                <a:ea typeface="Inter Bold"/>
                <a:cs typeface="Inter Bold"/>
                <a:sym typeface="Inter Bold"/>
              </a:rPr>
              <a:t>DAYS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30179" y="6126748"/>
            <a:ext cx="2645715" cy="41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3"/>
              </a:lnSpc>
            </a:pPr>
            <a:r>
              <a:rPr lang="en-US" sz="2810" b="1" spc="-56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Delivery Cycle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12449" y="3844897"/>
            <a:ext cx="805409" cy="160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6"/>
              </a:lnSpc>
            </a:pPr>
            <a:r>
              <a:rPr lang="en-US" sz="11449" b="1" spc="-341" dirty="0">
                <a:solidFill>
                  <a:srgbClr val="E82A2A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72423" y="5295900"/>
            <a:ext cx="1795068" cy="43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3216" b="1" spc="-64" dirty="0">
                <a:solidFill>
                  <a:srgbClr val="E82A2A"/>
                </a:solidFill>
                <a:latin typeface="Inter Bold"/>
                <a:ea typeface="Inter Bold"/>
                <a:cs typeface="Inter Bold"/>
                <a:sym typeface="Inter Bold"/>
              </a:rPr>
              <a:t>MONTHS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49945" y="6139787"/>
            <a:ext cx="3509367" cy="67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b="1" spc="-46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 intelligent-driving update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00440" y="207708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45330" y="2142670"/>
            <a:ext cx="5457962" cy="4930326"/>
          </a:xfrm>
          <a:custGeom>
            <a:avLst/>
            <a:gdLst/>
            <a:ahLst/>
            <a:cxnLst/>
            <a:rect l="l" t="t" r="r" b="b"/>
            <a:pathLst>
              <a:path w="5457962" h="4930326">
                <a:moveTo>
                  <a:pt x="0" y="0"/>
                </a:moveTo>
                <a:lnTo>
                  <a:pt x="5457962" y="0"/>
                </a:lnTo>
                <a:lnTo>
                  <a:pt x="5457962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64086" y="2569017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311110" y="2142670"/>
            <a:ext cx="5665780" cy="4930326"/>
          </a:xfrm>
          <a:custGeom>
            <a:avLst/>
            <a:gdLst/>
            <a:ahLst/>
            <a:cxnLst/>
            <a:rect l="l" t="t" r="r" b="b"/>
            <a:pathLst>
              <a:path w="5665780" h="4930326">
                <a:moveTo>
                  <a:pt x="0" y="0"/>
                </a:moveTo>
                <a:lnTo>
                  <a:pt x="5665780" y="0"/>
                </a:lnTo>
                <a:lnTo>
                  <a:pt x="5665780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748622" y="2569017"/>
            <a:ext cx="1093780" cy="218640"/>
          </a:xfrm>
          <a:custGeom>
            <a:avLst/>
            <a:gdLst/>
            <a:ahLst/>
            <a:cxnLst/>
            <a:rect l="l" t="t" r="r" b="b"/>
            <a:pathLst>
              <a:path w="1093780" h="218640">
                <a:moveTo>
                  <a:pt x="0" y="0"/>
                </a:moveTo>
                <a:lnTo>
                  <a:pt x="1093780" y="0"/>
                </a:lnTo>
                <a:lnTo>
                  <a:pt x="109378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965952" y="2142670"/>
            <a:ext cx="5676718" cy="4930326"/>
          </a:xfrm>
          <a:custGeom>
            <a:avLst/>
            <a:gdLst/>
            <a:ahLst/>
            <a:cxnLst/>
            <a:rect l="l" t="t" r="r" b="b"/>
            <a:pathLst>
              <a:path w="5676718" h="4930326">
                <a:moveTo>
                  <a:pt x="0" y="0"/>
                </a:moveTo>
                <a:lnTo>
                  <a:pt x="5676718" y="0"/>
                </a:lnTo>
                <a:lnTo>
                  <a:pt x="567671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403464" y="2569017"/>
            <a:ext cx="1312536" cy="218640"/>
          </a:xfrm>
          <a:custGeom>
            <a:avLst/>
            <a:gdLst/>
            <a:ahLst/>
            <a:cxnLst/>
            <a:rect l="l" t="t" r="r" b="b"/>
            <a:pathLst>
              <a:path w="1312536" h="218640">
                <a:moveTo>
                  <a:pt x="0" y="0"/>
                </a:moveTo>
                <a:lnTo>
                  <a:pt x="1312536" y="0"/>
                </a:lnTo>
                <a:lnTo>
                  <a:pt x="131253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950965" y="7406371"/>
            <a:ext cx="10386069" cy="3213190"/>
          </a:xfrm>
          <a:custGeom>
            <a:avLst/>
            <a:gdLst/>
            <a:ahLst/>
            <a:cxnLst/>
            <a:rect l="l" t="t" r="r" b="b"/>
            <a:pathLst>
              <a:path w="10386069" h="3213190">
                <a:moveTo>
                  <a:pt x="0" y="0"/>
                </a:moveTo>
                <a:lnTo>
                  <a:pt x="10386070" y="0"/>
                </a:lnTo>
                <a:lnTo>
                  <a:pt x="10386070" y="3213190"/>
                </a:lnTo>
                <a:lnTo>
                  <a:pt x="0" y="32131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08883" y="661215"/>
            <a:ext cx="6800023" cy="135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29"/>
              </a:lnSpc>
            </a:pPr>
            <a:r>
              <a:rPr lang="en-US" sz="10229" b="1">
                <a:solidFill>
                  <a:srgbClr val="090909"/>
                </a:solidFill>
                <a:latin typeface="Inter Bold"/>
                <a:ea typeface="Inter Bold"/>
                <a:cs typeface="Inter Bold"/>
                <a:sym typeface="Inter Bold"/>
              </a:rPr>
              <a:t>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4604" y="3027673"/>
            <a:ext cx="3016937" cy="50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b="1">
                <a:solidFill>
                  <a:srgbClr val="DE312F"/>
                </a:solidFill>
                <a:latin typeface="Inter Bold"/>
                <a:ea typeface="Inter Bold"/>
                <a:cs typeface="Inter Bold"/>
                <a:sym typeface="Inter Bold"/>
              </a:rPr>
              <a:t>SMART R&amp;D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9203" y="3861097"/>
            <a:ext cx="4100151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Digital twin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3253" y="4697767"/>
            <a:ext cx="4152008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100,000 virtual crash tests</a:t>
            </a:r>
          </a:p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on Han EV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1690" y="5891523"/>
            <a:ext cx="4308300" cy="78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623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6 global R&amp;D centers share one cloud platform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0988" y="3028231"/>
            <a:ext cx="4343411" cy="50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849" b="1">
                <a:solidFill>
                  <a:srgbClr val="DE312F"/>
                </a:solidFill>
                <a:latin typeface="Inter Bold"/>
                <a:ea typeface="Inter Bold"/>
                <a:cs typeface="Inter Bold"/>
                <a:sym typeface="Inter Bold"/>
              </a:rPr>
              <a:t>SMART FACTORY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56633" y="3861097"/>
            <a:ext cx="4778873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1,000 robots, 95% automation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8586" y="4707292"/>
            <a:ext cx="4766920" cy="761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530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28,000 IoT nodes track</a:t>
            </a:r>
          </a:p>
          <a:p>
            <a:pPr algn="l">
              <a:lnSpc>
                <a:spcPts val="3036"/>
              </a:lnSpc>
            </a:pPr>
            <a:r>
              <a:rPr lang="en-US" sz="2530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3,000 parameters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65474" y="5935953"/>
            <a:ext cx="4770032" cy="399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6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AI predicts maintenance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89063" y="3027673"/>
            <a:ext cx="4821811" cy="50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b="1">
                <a:solidFill>
                  <a:srgbClr val="DE312F"/>
                </a:solidFill>
                <a:latin typeface="Inter Bold"/>
                <a:ea typeface="Inter Bold"/>
                <a:cs typeface="Inter Bold"/>
                <a:sym typeface="Inter Bold"/>
              </a:rPr>
              <a:t>SMART CUSTOMER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01087" y="3861096"/>
            <a:ext cx="4758213" cy="78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578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CRM of 20M users with RFM targeting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88268" y="5096086"/>
            <a:ext cx="4901366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5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Live-stream and VR test drives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90548" y="5909372"/>
            <a:ext cx="4820326" cy="7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T-BOX sends 120 data points, warns 30 days ahead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77172" y="403840"/>
            <a:ext cx="4719530" cy="118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55"/>
              </a:lnSpc>
            </a:pPr>
            <a:r>
              <a:rPr lang="en-US" sz="7961" b="1" dirty="0">
                <a:solidFill>
                  <a:srgbClr val="0B0B0B"/>
                </a:solidFill>
                <a:latin typeface="Inter Bold"/>
                <a:ea typeface="Inter Bold"/>
                <a:cs typeface="Inter Bold"/>
                <a:sym typeface="Inter Bold"/>
              </a:rPr>
              <a:t>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747" y="1660636"/>
            <a:ext cx="7648679" cy="886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Data-driven decisions delivering measurable impact across our business.</a:t>
            </a:r>
          </a:p>
        </p:txBody>
      </p:sp>
      <p:sp>
        <p:nvSpPr>
          <p:cNvPr id="5" name="Freeform 5"/>
          <p:cNvSpPr/>
          <p:nvPr/>
        </p:nvSpPr>
        <p:spPr>
          <a:xfrm>
            <a:off x="16100440" y="207708"/>
            <a:ext cx="1760986" cy="1300906"/>
          </a:xfrm>
          <a:custGeom>
            <a:avLst/>
            <a:gdLst/>
            <a:ahLst/>
            <a:cxnLst/>
            <a:rect l="l" t="t" r="r" b="b"/>
            <a:pathLst>
              <a:path w="1760986" h="1300906">
                <a:moveTo>
                  <a:pt x="0" y="0"/>
                </a:moveTo>
                <a:lnTo>
                  <a:pt x="1760986" y="0"/>
                </a:lnTo>
                <a:lnTo>
                  <a:pt x="176098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26574" y="2776725"/>
            <a:ext cx="9811206" cy="6876220"/>
          </a:xfrm>
          <a:custGeom>
            <a:avLst/>
            <a:gdLst/>
            <a:ahLst/>
            <a:cxnLst/>
            <a:rect l="l" t="t" r="r" b="b"/>
            <a:pathLst>
              <a:path w="9811206" h="6876220">
                <a:moveTo>
                  <a:pt x="0" y="0"/>
                </a:moveTo>
                <a:lnTo>
                  <a:pt x="9811206" y="0"/>
                </a:lnTo>
                <a:lnTo>
                  <a:pt x="9811206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82842" y="3219642"/>
            <a:ext cx="6214032" cy="54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400" b="1">
                <a:solidFill>
                  <a:srgbClr val="0B0B0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Delivery cycle for Song PLUS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3046" y="3944246"/>
            <a:ext cx="4193656" cy="38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523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Days from order to delivery</a:t>
            </a:r>
          </a:p>
        </p:txBody>
      </p:sp>
      <p:sp>
        <p:nvSpPr>
          <p:cNvPr id="9" name="Freeform 9"/>
          <p:cNvSpPr/>
          <p:nvPr/>
        </p:nvSpPr>
        <p:spPr>
          <a:xfrm>
            <a:off x="1082842" y="8343900"/>
            <a:ext cx="6322048" cy="229572"/>
          </a:xfrm>
          <a:custGeom>
            <a:avLst/>
            <a:gdLst/>
            <a:ahLst/>
            <a:cxnLst/>
            <a:rect l="l" t="t" r="r" b="b"/>
            <a:pathLst>
              <a:path w="6322048" h="229572">
                <a:moveTo>
                  <a:pt x="0" y="0"/>
                </a:moveTo>
                <a:lnTo>
                  <a:pt x="6322048" y="0"/>
                </a:lnTo>
                <a:lnTo>
                  <a:pt x="6322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0354" y="5356674"/>
            <a:ext cx="1750048" cy="3224936"/>
          </a:xfrm>
          <a:custGeom>
            <a:avLst/>
            <a:gdLst/>
            <a:ahLst/>
            <a:cxnLst/>
            <a:rect l="l" t="t" r="r" b="b"/>
            <a:pathLst>
              <a:path w="1750048" h="3224936">
                <a:moveTo>
                  <a:pt x="0" y="0"/>
                </a:moveTo>
                <a:lnTo>
                  <a:pt x="1750048" y="0"/>
                </a:lnTo>
                <a:lnTo>
                  <a:pt x="175004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572000" y="7280704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01689" y="4746333"/>
            <a:ext cx="749038" cy="660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45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8853" y="6584320"/>
            <a:ext cx="749038" cy="74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5000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15</a:t>
            </a:r>
          </a:p>
        </p:txBody>
      </p:sp>
      <p:sp>
        <p:nvSpPr>
          <p:cNvPr id="14" name="Freeform 14"/>
          <p:cNvSpPr/>
          <p:nvPr/>
        </p:nvSpPr>
        <p:spPr>
          <a:xfrm>
            <a:off x="3478220" y="5356674"/>
            <a:ext cx="1312536" cy="150861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391400" y="5524500"/>
            <a:ext cx="1750048" cy="943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31"/>
              </a:lnSpc>
            </a:pPr>
            <a:r>
              <a:rPr lang="en-US" sz="8000" b="1" dirty="0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30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62800" y="6396123"/>
            <a:ext cx="229189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3200" b="1" dirty="0">
                <a:solidFill>
                  <a:srgbClr val="0B0B0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days faster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18938" y="2770011"/>
            <a:ext cx="1632017" cy="85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5739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40%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12628" y="2958748"/>
            <a:ext cx="3282880" cy="43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Shorter R&amp;D cycles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445598" y="3848060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618938" y="4098716"/>
            <a:ext cx="1632017" cy="91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7"/>
              </a:lnSpc>
            </a:pPr>
            <a:r>
              <a:rPr lang="en-US" sz="6046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67%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445598" y="5138034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0618938" y="5472038"/>
            <a:ext cx="1632017" cy="87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1"/>
              </a:lnSpc>
            </a:pPr>
            <a:r>
              <a:rPr lang="en-US" sz="5783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60%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23483" y="5712203"/>
            <a:ext cx="3076957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Less downtime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445598" y="6428009"/>
            <a:ext cx="7197072" cy="218640"/>
          </a:xfrm>
          <a:custGeom>
            <a:avLst/>
            <a:gdLst/>
            <a:ahLst/>
            <a:cxnLst/>
            <a:rect l="l" t="t" r="r" b="b"/>
            <a:pathLst>
              <a:path w="7197072" h="218640">
                <a:moveTo>
                  <a:pt x="0" y="0"/>
                </a:moveTo>
                <a:lnTo>
                  <a:pt x="7197072" y="0"/>
                </a:lnTo>
                <a:lnTo>
                  <a:pt x="7197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625327" y="6828116"/>
            <a:ext cx="993071" cy="88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5915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96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12628" y="6821298"/>
            <a:ext cx="3899380" cy="790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 satisfaction</a:t>
            </a:r>
          </a:p>
          <a:p>
            <a:pPr algn="l">
              <a:lnSpc>
                <a:spcPts val="3232"/>
              </a:lnSpc>
            </a:pPr>
            <a:r>
              <a:rPr lang="en-US" sz="2487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NPS 68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445598" y="7707051"/>
            <a:ext cx="7197072" cy="437279"/>
          </a:xfrm>
          <a:custGeom>
            <a:avLst/>
            <a:gdLst/>
            <a:ahLst/>
            <a:cxnLst/>
            <a:rect l="l" t="t" r="r" b="b"/>
            <a:pathLst>
              <a:path w="7197072" h="437279">
                <a:moveTo>
                  <a:pt x="0" y="0"/>
                </a:moveTo>
                <a:lnTo>
                  <a:pt x="7197072" y="0"/>
                </a:lnTo>
                <a:lnTo>
                  <a:pt x="7197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618938" y="8186341"/>
            <a:ext cx="1632017" cy="92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sz="6134" b="1">
                <a:solidFill>
                  <a:srgbClr val="DB1B21"/>
                </a:solidFill>
                <a:latin typeface="Inter Bold"/>
                <a:ea typeface="Inter Bold"/>
                <a:cs typeface="Inter Bold"/>
                <a:sym typeface="Inter Bold"/>
              </a:rPr>
              <a:t>27%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11103" y="8221956"/>
            <a:ext cx="4248197" cy="790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Higher conversion from targeted marketing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33008" y="4386818"/>
            <a:ext cx="4478931" cy="43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700" b="1">
                <a:solidFill>
                  <a:srgbClr val="0B0B0B"/>
                </a:solidFill>
                <a:latin typeface="Inter Medium"/>
                <a:ea typeface="Inter Medium"/>
                <a:cs typeface="Inter Medium"/>
                <a:sym typeface="Inter Medium"/>
              </a:rPr>
              <a:t>Higher production capacity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56908" y="8705393"/>
            <a:ext cx="938692" cy="335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141" b="1" dirty="0">
                <a:solidFill>
                  <a:srgbClr val="0B0B0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Before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74123" y="8714918"/>
            <a:ext cx="658499" cy="3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074" b="1">
                <a:solidFill>
                  <a:srgbClr val="0B0B0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After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395990" y="3839881"/>
            <a:ext cx="5892010" cy="6447119"/>
          </a:xfrm>
          <a:custGeom>
            <a:avLst/>
            <a:gdLst/>
            <a:ahLst/>
            <a:cxnLst/>
            <a:rect l="l" t="t" r="r" b="b"/>
            <a:pathLst>
              <a:path w="5892010" h="6447119">
                <a:moveTo>
                  <a:pt x="0" y="0"/>
                </a:moveTo>
                <a:lnTo>
                  <a:pt x="5892010" y="0"/>
                </a:lnTo>
                <a:lnTo>
                  <a:pt x="5892010" y="6447119"/>
                </a:lnTo>
                <a:lnTo>
                  <a:pt x="0" y="64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16828" y="662659"/>
            <a:ext cx="5289883" cy="131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4"/>
              </a:lnSpc>
            </a:pPr>
            <a:r>
              <a:rPr lang="en-US" sz="870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924030"/>
            <a:ext cx="14820718" cy="437279"/>
          </a:xfrm>
          <a:custGeom>
            <a:avLst/>
            <a:gdLst/>
            <a:ahLst/>
            <a:cxnLst/>
            <a:rect l="l" t="t" r="r" b="b"/>
            <a:pathLst>
              <a:path w="14820718" h="437279">
                <a:moveTo>
                  <a:pt x="0" y="0"/>
                </a:moveTo>
                <a:lnTo>
                  <a:pt x="14820718" y="0"/>
                </a:lnTo>
                <a:lnTo>
                  <a:pt x="14820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00440" y="207708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54979" y="2577005"/>
            <a:ext cx="1726097" cy="1455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83"/>
              </a:lnSpc>
            </a:pPr>
            <a:r>
              <a:rPr lang="en-US" sz="9984" b="1" dirty="0">
                <a:solidFill>
                  <a:srgbClr val="DB2E2E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5290" y="3008163"/>
            <a:ext cx="2535825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DATA SPEEDS</a:t>
            </a:r>
          </a:p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UP EVERYTHING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4285339"/>
            <a:ext cx="885962" cy="218640"/>
          </a:xfrm>
          <a:custGeom>
            <a:avLst/>
            <a:gdLst/>
            <a:ahLst/>
            <a:cxnLst/>
            <a:rect l="l" t="t" r="r" b="b"/>
            <a:pathLst>
              <a:path w="885962" h="218640">
                <a:moveTo>
                  <a:pt x="0" y="0"/>
                </a:moveTo>
                <a:lnTo>
                  <a:pt x="885962" y="0"/>
                </a:lnTo>
                <a:lnTo>
                  <a:pt x="885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39843" y="4737735"/>
            <a:ext cx="410127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Simulation cut R&amp;D by 40%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341" y="5275359"/>
            <a:ext cx="4440995" cy="80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Iteration of intelligent driving from 6 to 3 months</a:t>
            </a:r>
          </a:p>
        </p:txBody>
      </p:sp>
      <p:sp>
        <p:nvSpPr>
          <p:cNvPr id="12" name="Freeform 12"/>
          <p:cNvSpPr/>
          <p:nvPr/>
        </p:nvSpPr>
        <p:spPr>
          <a:xfrm>
            <a:off x="5436086" y="2776725"/>
            <a:ext cx="229694" cy="3565011"/>
          </a:xfrm>
          <a:custGeom>
            <a:avLst/>
            <a:gdLst/>
            <a:ahLst/>
            <a:cxnLst/>
            <a:rect l="l" t="t" r="r" b="b"/>
            <a:pathLst>
              <a:path w="229694" h="3565011">
                <a:moveTo>
                  <a:pt x="0" y="0"/>
                </a:moveTo>
                <a:lnTo>
                  <a:pt x="229694" y="0"/>
                </a:lnTo>
                <a:lnTo>
                  <a:pt x="229694" y="3565011"/>
                </a:lnTo>
                <a:lnTo>
                  <a:pt x="0" y="3565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077" r="-90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932426" y="2675765"/>
            <a:ext cx="1474624" cy="1328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7" b="1">
                <a:solidFill>
                  <a:srgbClr val="DB2E2E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22914" y="2836358"/>
            <a:ext cx="3160199" cy="108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FLEXIBLE</a:t>
            </a:r>
          </a:p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FACTORIES</a:t>
            </a:r>
          </a:p>
          <a:p>
            <a:pPr algn="l">
              <a:lnSpc>
                <a:spcPts val="2916"/>
              </a:lnSpc>
            </a:pPr>
            <a:r>
              <a:rPr lang="en-US" sz="243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BEAT UNCERTAINTY</a:t>
            </a:r>
          </a:p>
        </p:txBody>
      </p:sp>
      <p:sp>
        <p:nvSpPr>
          <p:cNvPr id="15" name="Freeform 15"/>
          <p:cNvSpPr/>
          <p:nvPr/>
        </p:nvSpPr>
        <p:spPr>
          <a:xfrm>
            <a:off x="5873598" y="4285339"/>
            <a:ext cx="885962" cy="218640"/>
          </a:xfrm>
          <a:custGeom>
            <a:avLst/>
            <a:gdLst/>
            <a:ahLst/>
            <a:cxnLst/>
            <a:rect l="l" t="t" r="r" b="b"/>
            <a:pathLst>
              <a:path w="885962" h="218640">
                <a:moveTo>
                  <a:pt x="0" y="0"/>
                </a:moveTo>
                <a:lnTo>
                  <a:pt x="885962" y="0"/>
                </a:lnTo>
                <a:lnTo>
                  <a:pt x="885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927133" y="4699239"/>
            <a:ext cx="3365517" cy="42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511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12 models on one 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27133" y="5309497"/>
            <a:ext cx="445147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Inventory turnover up 40%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664354" y="2776725"/>
            <a:ext cx="229694" cy="3565011"/>
          </a:xfrm>
          <a:custGeom>
            <a:avLst/>
            <a:gdLst/>
            <a:ahLst/>
            <a:cxnLst/>
            <a:rect l="l" t="t" r="r" b="b"/>
            <a:pathLst>
              <a:path w="229694" h="3565011">
                <a:moveTo>
                  <a:pt x="0" y="0"/>
                </a:moveTo>
                <a:lnTo>
                  <a:pt x="229694" y="0"/>
                </a:lnTo>
                <a:lnTo>
                  <a:pt x="229694" y="3565011"/>
                </a:lnTo>
                <a:lnTo>
                  <a:pt x="0" y="35650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077" r="-90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1263449" y="2684087"/>
            <a:ext cx="1474624" cy="130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1"/>
              </a:lnSpc>
            </a:pPr>
            <a:r>
              <a:rPr lang="en-US" sz="8600" b="1">
                <a:solidFill>
                  <a:srgbClr val="DB2E2E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88887" y="2855408"/>
            <a:ext cx="2344104" cy="11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96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PREDICTIVE</a:t>
            </a:r>
          </a:p>
          <a:p>
            <a:pPr algn="l">
              <a:lnSpc>
                <a:spcPts val="2995"/>
              </a:lnSpc>
            </a:pPr>
            <a:r>
              <a:rPr lang="en-US" sz="2496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SERVICE WINS</a:t>
            </a:r>
          </a:p>
          <a:p>
            <a:pPr algn="l">
              <a:lnSpc>
                <a:spcPts val="2995"/>
              </a:lnSpc>
            </a:pPr>
            <a:r>
              <a:rPr lang="en-US" sz="2496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CUSTOMERS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101866" y="4285339"/>
            <a:ext cx="875024" cy="218640"/>
          </a:xfrm>
          <a:custGeom>
            <a:avLst/>
            <a:gdLst/>
            <a:ahLst/>
            <a:cxnLst/>
            <a:rect l="l" t="t" r="r" b="b"/>
            <a:pathLst>
              <a:path w="875024" h="218640">
                <a:moveTo>
                  <a:pt x="0" y="0"/>
                </a:moveTo>
                <a:lnTo>
                  <a:pt x="875024" y="0"/>
                </a:lnTo>
                <a:lnTo>
                  <a:pt x="87502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1175852" y="4652831"/>
            <a:ext cx="416614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82% remote fault resolution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75852" y="5297310"/>
            <a:ext cx="388661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2-hour on-site response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5330" y="6854356"/>
            <a:ext cx="13289426" cy="2798589"/>
          </a:xfrm>
          <a:custGeom>
            <a:avLst/>
            <a:gdLst/>
            <a:ahLst/>
            <a:cxnLst/>
            <a:rect l="l" t="t" r="r" b="b"/>
            <a:pathLst>
              <a:path w="13289426" h="2798589">
                <a:moveTo>
                  <a:pt x="0" y="0"/>
                </a:moveTo>
                <a:lnTo>
                  <a:pt x="13289426" y="0"/>
                </a:lnTo>
                <a:lnTo>
                  <a:pt x="13289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28700" y="7509723"/>
            <a:ext cx="3283798" cy="1408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5014" b="1" dirty="0">
                <a:solidFill>
                  <a:srgbClr val="DB2E2E"/>
                </a:solidFill>
                <a:latin typeface="Inter Bold"/>
                <a:ea typeface="Inter Bold"/>
                <a:cs typeface="Inter Bold"/>
                <a:sym typeface="Inter Bold"/>
              </a:rPr>
              <a:t>STILL TO IMPROVE</a:t>
            </a:r>
          </a:p>
        </p:txBody>
      </p:sp>
      <p:sp>
        <p:nvSpPr>
          <p:cNvPr id="26" name="Freeform 26"/>
          <p:cNvSpPr/>
          <p:nvPr/>
        </p:nvSpPr>
        <p:spPr>
          <a:xfrm>
            <a:off x="4093742" y="7222710"/>
            <a:ext cx="218756" cy="1934962"/>
          </a:xfrm>
          <a:custGeom>
            <a:avLst/>
            <a:gdLst/>
            <a:ahLst/>
            <a:cxnLst/>
            <a:rect l="l" t="t" r="r" b="b"/>
            <a:pathLst>
              <a:path w="218756" h="1934962">
                <a:moveTo>
                  <a:pt x="0" y="0"/>
                </a:moveTo>
                <a:lnTo>
                  <a:pt x="218756" y="0"/>
                </a:lnTo>
                <a:lnTo>
                  <a:pt x="21875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4436222" y="7094979"/>
            <a:ext cx="8794126" cy="220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1"/>
              </a:lnSpc>
            </a:pPr>
            <a:r>
              <a:rPr lang="en-US" sz="2331" b="1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Only 12% of digital team have AI + automotive skills</a:t>
            </a:r>
          </a:p>
          <a:p>
            <a:pPr algn="l">
              <a:lnSpc>
                <a:spcPts val="4431"/>
              </a:lnSpc>
            </a:pPr>
            <a:r>
              <a:rPr lang="en-US" sz="2331" b="1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Predictive maintenance - 82% accuracy vs 90% target</a:t>
            </a:r>
          </a:p>
          <a:p>
            <a:pPr algn="l">
              <a:lnSpc>
                <a:spcPts val="4431"/>
              </a:lnSpc>
            </a:pPr>
            <a:r>
              <a:rPr lang="en-US" sz="2331" b="1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Europe configuration errors 1.8x China</a:t>
            </a:r>
          </a:p>
          <a:p>
            <a:pPr algn="l">
              <a:lnSpc>
                <a:spcPts val="4431"/>
              </a:lnSpc>
            </a:pPr>
            <a:r>
              <a:rPr lang="en-US" sz="2331" b="1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Cloud outage halted logistics for 5,000 vehicles for 3 hours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75661" y="0"/>
            <a:ext cx="8717426" cy="10287000"/>
          </a:xfrm>
          <a:custGeom>
            <a:avLst/>
            <a:gdLst/>
            <a:ahLst/>
            <a:cxnLst/>
            <a:rect l="l" t="t" r="r" b="b"/>
            <a:pathLst>
              <a:path w="8717426" h="10287000">
                <a:moveTo>
                  <a:pt x="0" y="0"/>
                </a:moveTo>
                <a:lnTo>
                  <a:pt x="8717426" y="0"/>
                </a:lnTo>
                <a:lnTo>
                  <a:pt x="8717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70574" y="0"/>
            <a:ext cx="2625072" cy="10287000"/>
          </a:xfrm>
          <a:custGeom>
            <a:avLst/>
            <a:gdLst/>
            <a:ahLst/>
            <a:cxnLst/>
            <a:rect l="l" t="t" r="r" b="b"/>
            <a:pathLst>
              <a:path w="2625072" h="10287000">
                <a:moveTo>
                  <a:pt x="0" y="0"/>
                </a:moveTo>
                <a:lnTo>
                  <a:pt x="2625072" y="0"/>
                </a:lnTo>
                <a:lnTo>
                  <a:pt x="26250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50028" y="1506067"/>
            <a:ext cx="6550763" cy="127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7"/>
              </a:lnSpc>
            </a:pPr>
            <a:r>
              <a:rPr lang="en-US" sz="8496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8743" y="2834207"/>
            <a:ext cx="8456151" cy="111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477" b="1">
                <a:solidFill>
                  <a:srgbClr val="ED2626"/>
                </a:solidFill>
                <a:latin typeface="Inter Bold"/>
                <a:ea typeface="Inter Bold"/>
                <a:cs typeface="Inter Bold"/>
                <a:sym typeface="Inter Bold"/>
              </a:rPr>
              <a:t>ANY QUESTIONS?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792" y="4559165"/>
            <a:ext cx="7351303" cy="164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168" b="1" spc="-63">
                <a:solidFill>
                  <a:srgbClr val="101010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 for your time and attention.</a:t>
            </a:r>
          </a:p>
          <a:p>
            <a:pPr algn="l">
              <a:lnSpc>
                <a:spcPts val="4437"/>
              </a:lnSpc>
            </a:pPr>
            <a:r>
              <a:rPr lang="en-US" sz="3168" b="1" spc="-63">
                <a:solidFill>
                  <a:srgbClr val="101010"/>
                </a:solidFill>
                <a:latin typeface="Inter Medium"/>
                <a:ea typeface="Inter Medium"/>
                <a:cs typeface="Inter Medium"/>
                <a:sym typeface="Inter Medium"/>
              </a:rPr>
              <a:t>We appreciate the opportunity to share how data helps BYD work smarter.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6635716"/>
            <a:ext cx="7853340" cy="229572"/>
          </a:xfrm>
          <a:custGeom>
            <a:avLst/>
            <a:gdLst/>
            <a:ahLst/>
            <a:cxnLst/>
            <a:rect l="l" t="t" r="r" b="b"/>
            <a:pathLst>
              <a:path w="7853340" h="229572">
                <a:moveTo>
                  <a:pt x="0" y="0"/>
                </a:moveTo>
                <a:lnTo>
                  <a:pt x="7853340" y="0"/>
                </a:lnTo>
                <a:lnTo>
                  <a:pt x="7853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54112" y="7007387"/>
            <a:ext cx="6919301" cy="187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7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Liu, Y. (2026). Take BYD as an Example to Analyze the Digital Transformation Strategy of China's New Energy Vehicle Enterprises. Proceedings of ICHCH 2025, Advances in Economics, Business and Management Research 374.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7876" y="9010478"/>
            <a:ext cx="6542915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70" dirty="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  <a:hlinkClick r:id="rId6"/>
              </a:rPr>
              <a:t>BYD Case Study</a:t>
            </a:r>
            <a:endParaRPr lang="en-US" sz="2351" b="1" spc="-70" dirty="0">
              <a:solidFill>
                <a:srgbClr val="22222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100440" y="207708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397</Words>
  <Application>Microsoft Macintosh PowerPoint</Application>
  <PresentationFormat>Custom</PresentationFormat>
  <Paragraphs>101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Inter Medium</vt:lpstr>
      <vt:lpstr>Calibri</vt:lpstr>
      <vt:lpstr>Inter Bold</vt:lpstr>
      <vt:lpstr>Aptos</vt:lpstr>
      <vt:lpstr>Inter Semi-Bold</vt:lpstr>
      <vt:lpstr>Inter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Data Helped BYD</dc:title>
  <cp:lastModifiedBy>Himanshu  Mohanty -075077</cp:lastModifiedBy>
  <cp:revision>5</cp:revision>
  <dcterms:created xsi:type="dcterms:W3CDTF">2006-08-16T00:00:00Z</dcterms:created>
  <dcterms:modified xsi:type="dcterms:W3CDTF">2026-10-18T08:55:04Z</dcterms:modified>
  <dc:identifier>DAHX6gnR35k</dc:identifier>
</cp:coreProperties>
</file>